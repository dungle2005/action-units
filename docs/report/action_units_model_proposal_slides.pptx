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80467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5B9BD5"/>
                </a:solidFill>
                <a:latin typeface="Arial"/>
              </a:rPr>
              <a:t>ĐỀ XUẤT MÔ HÌNH</a:t>
            </a:r>
          </a:p>
        </p:txBody>
      </p:sp>
      <p:sp>
        <p:nvSpPr>
          <p:cNvPr id="3" name="cover-title"/>
          <p:cNvSpPr txBox="1"/>
          <p:nvPr/>
        </p:nvSpPr>
        <p:spPr>
          <a:xfrm>
            <a:off x="685800" y="1143000"/>
            <a:ext cx="896112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Arial"/>
              </a:rPr>
              <a:t>Improved Two-Stage CLIP Pipeline
for Facial Action Unit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7680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>Báo cáo đề xuất cho GVHD - học viên cao học ngành Khoa học máy tính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794760"/>
            <a:ext cx="2057400" cy="5029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</a:rPr>
              <a:t>Learned prompts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44368" y="3794760"/>
            <a:ext cx="2057400" cy="50292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</a:rPr>
              <a:t>Multi-label ITC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5504" y="3794760"/>
            <a:ext cx="2331720" cy="502920"/>
          </a:xfrm>
          <a:prstGeom prst="roundRect">
            <a:avLst/>
          </a:prstGeom>
          <a:solidFill>
            <a:srgbClr val="F8CECC"/>
          </a:solidFill>
          <a:ln w="1524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</a:rPr>
              <a:t>WeightedBCE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3794760"/>
            <a:ext cx="2560320" cy="502920"/>
          </a:xfrm>
          <a:prstGeom prst="roundRect">
            <a:avLst/>
          </a:prstGeom>
          <a:solidFill>
            <a:srgbClr val="EADCF8"/>
          </a:solidFill>
          <a:ln w="1524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</a:rPr>
              <a:t>AU verbalization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50292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Arial"/>
              </a:rPr>
              <a:t>10/05/2026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rial"/>
              </a:rPr>
              <a:t>1. Bài toán: từ FACS/AU đến multi-label occurrence detection</a:t>
            </a:r>
          </a:p>
        </p:txBody>
      </p:sp>
      <p:sp>
        <p:nvSpPr>
          <p:cNvPr id="3" name="slide-subtitle"/>
          <p:cNvSpPr txBox="1"/>
          <p:nvPr/>
        </p:nvSpPr>
        <p:spPr>
          <a:xfrm>
            <a:off x="612648" y="841248"/>
            <a:ext cx="9875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Arial"/>
              </a:rPr>
              <a:t>Trọng tâm là nhận diện Action Units, không kết luận cảm xúc trực tiếp.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FACS mô tả chuyển động cơ mặt bằng Action Units.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Một ảnh có thể đồng thời chứa nhiều AU: y in {0,1}^12.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DISFA intensity 0-5 được nhị phân hóa thành AU occurrence bằng ngưỡng &gt;= 2.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Đầu ra cần vừa định lượng được xác suất AU, vừa diễn giải được bằng ngôn ngữ.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4389120" cy="685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x -&gt; p(AU1..AU12) -&gt; active AU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2560320"/>
            <a:ext cx="3749039" cy="685800"/>
          </a:xfrm>
          <a:prstGeom prst="roundRect">
            <a:avLst/>
          </a:prstGeom>
          <a:solidFill>
            <a:srgbClr val="EADCF8"/>
          </a:solidFill>
          <a:ln w="1524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222222"/>
                </a:solidFill>
                <a:latin typeface="Arial"/>
              </a:rPr>
              <a:t>AU set -&gt; facial action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3931920"/>
            <a:ext cx="4389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Arial"/>
              </a:rPr>
              <a:t>Điểm cần nói với GVHD: mô hình không học trực tiếp nhãn cảm xúc; verbalization chỉ là lớp diễn giải theo luật.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2743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Arial"/>
              </a:rPr>
              <a:t>2/7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473952"/>
            <a:ext cx="24231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Arial"/>
              </a:rPr>
              <a:t>Action Units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772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2. Kiến trúc tổng thể theo ba tầng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8046720" cy="246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D2D2D2"/>
                </a:solidFill>
                <a:latin typeface="Arial"/>
              </a:rPr>
              <a:t>Các callout I1-I6 đánh dấu phần cải tiến và phạm vi cần nhấn mạnh.</a:t>
            </a:r>
          </a:p>
        </p:txBody>
      </p:sp>
      <p:pic>
        <p:nvPicPr>
          <p:cNvPr id="4" name="Picture 3" descr="scientific_mode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51560"/>
            <a:ext cx="10835640" cy="57553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rial"/>
              </a:rPr>
              <a:t>3. Stage I: học AU semantic prototypes</a:t>
            </a:r>
          </a:p>
        </p:txBody>
      </p:sp>
      <p:sp>
        <p:nvSpPr>
          <p:cNvPr id="3" name="slide-subtitle"/>
          <p:cNvSpPr txBox="1"/>
          <p:nvPr/>
        </p:nvSpPr>
        <p:spPr>
          <a:xfrm>
            <a:off x="612648" y="841248"/>
            <a:ext cx="9875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Arial"/>
              </a:rPr>
              <a:t>Learned prompts thay cho text descriptor cố định.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468880" cy="685800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Image embedding g_i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468880" cy="6858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AU prototypes T_AU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2331720" cy="685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Affinity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417320"/>
            <a:ext cx="2286000" cy="68580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BCEWithLogits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1764792"/>
            <a:ext cx="36576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6480" y="1764792"/>
            <a:ext cx="36576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3960" y="1764792"/>
            <a:ext cx="27432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2788920"/>
            <a:ext cx="521208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L_1 = BCEWithLogits(S, y),  S = norm(g_i) norm(T_AU)^T / tau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Chỉ cập nhật prompt_learner trong Stage I.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Một ảnh được phép align với nhiều AU active.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971800"/>
            <a:ext cx="448056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Arial"/>
              </a:rPr>
              <a:t>Thông điệp khoa học: Stage I tạo các điểm neo ngữ nghĩa trong không gian CLIP trước khi huấn luyện classifier thị giác.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2743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Arial"/>
              </a:rPr>
              <a:t>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473952"/>
            <a:ext cx="24231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Arial"/>
              </a:rPr>
              <a:t>Action Units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rial"/>
              </a:rPr>
              <a:t>4. Stage II: fine-tune detector đa nhãn</a:t>
            </a:r>
          </a:p>
        </p:txBody>
      </p:sp>
      <p:sp>
        <p:nvSpPr>
          <p:cNvPr id="3" name="slide-subtitle"/>
          <p:cNvSpPr txBox="1"/>
          <p:nvPr/>
        </p:nvSpPr>
        <p:spPr>
          <a:xfrm>
            <a:off x="612648" y="841248"/>
            <a:ext cx="9875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Arial"/>
              </a:rPr>
              <a:t>Text side được đóng băng; visual side và AU heads được tối ưu cho AU occurrence.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148840" cy="640080"/>
          </a:xfrm>
          <a:prstGeom prst="roundRect">
            <a:avLst/>
          </a:prstGeom>
          <a:solidFill>
            <a:srgbClr val="D9EAD3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CLIP ViT-B/16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25880"/>
            <a:ext cx="2057400" cy="64008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BNNeck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25880"/>
            <a:ext cx="2240280" cy="640080"/>
          </a:xfrm>
          <a:prstGeom prst="roundRect">
            <a:avLst/>
          </a:prstGeom>
          <a:solidFill>
            <a:srgbClr val="F8CECC"/>
          </a:solidFill>
          <a:ln w="1524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AU heads z_f, z_g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325880"/>
            <a:ext cx="2743200" cy="6400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WeightedBCE + 0.1 L_ITC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645920"/>
            <a:ext cx="36576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94960" y="1645920"/>
            <a:ext cx="36576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01000" y="1645920"/>
            <a:ext cx="36576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74320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WeightedBCE xử lý mất cân bằng tần suất AU trong train fold.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L_ITC duy trì ràng buộc image-text từ T_AU.</a:t>
            </a:r>
          </a:p>
          <a:p>
            <a:pPr>
              <a:spcAft>
                <a:spcPts val="600"/>
              </a:spcAft>
              <a:defRPr sz="1900">
                <a:solidFill>
                  <a:srgbClr val="222222"/>
                </a:solidFill>
                <a:latin typeface="Arial"/>
              </a:defRPr>
            </a:pPr>
            <a:r>
              <a:t>Feature hiện tại là global CLIP/ViT, chưa có AU-region attention.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114800" cy="1417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Cách diễn đạt an toàn: đây là transfer-learning AU detector dựa trên CLIP, không claim mô hình vùng cơ mặt chuyên biệt.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2743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Arial"/>
              </a:rPr>
              <a:t>5/7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6473952"/>
            <a:ext cx="24231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Arial"/>
              </a:rPr>
              <a:t>Action Units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rial"/>
              </a:rPr>
              <a:t>5. Suy luận, đánh giá và diễn giải</a:t>
            </a:r>
          </a:p>
        </p:txBody>
      </p:sp>
      <p:sp>
        <p:nvSpPr>
          <p:cNvPr id="3" name="slide-subtitle"/>
          <p:cNvSpPr txBox="1"/>
          <p:nvPr/>
        </p:nvSpPr>
        <p:spPr>
          <a:xfrm>
            <a:off x="612648" y="841248"/>
            <a:ext cx="9875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Arial"/>
              </a:rPr>
              <a:t>Tách rõ xác suất AU, quyết định nhị phân và mô tả ngôn ngữ.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2057400" cy="640080"/>
          </a:xfrm>
          <a:prstGeom prst="roundRect">
            <a:avLst/>
          </a:prstGeom>
          <a:solidFill>
            <a:srgbClr val="F8CECC"/>
          </a:solidFill>
          <a:ln w="1524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p = sigmoid(z_f)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057400" cy="6400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p_k &gt; 0.5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325880"/>
            <a:ext cx="2377440" cy="64008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F1 / 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25880"/>
            <a:ext cx="2468880" cy="640080"/>
          </a:xfrm>
          <a:prstGeom prst="roundRect">
            <a:avLst/>
          </a:prstGeom>
          <a:solidFill>
            <a:srgbClr val="EADCF8"/>
          </a:solidFill>
          <a:ln w="1524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AU verbalization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1645920"/>
            <a:ext cx="41148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1645920"/>
            <a:ext cx="41148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92440" y="1645920"/>
            <a:ext cx="41148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Primary metric nên là macro/micro F1, per-AU F1, ROC-AUC và DISFA-8 F1.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Cần báo cáo subject-disjoint 3-fold mean/std trước khi claim benchmark.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Arial"/>
              </a:defRPr>
            </a:pPr>
            <a:r>
              <a:t>Rule-based verbalization giúp đầu ra dễ đọc nhưng không thay thế đánh giá y khoa/tâm lý.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880360"/>
            <a:ext cx="420624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Thông điệp: detector học sâu quyết định AU; lớp sau chỉ chuyển AU set thành mô tả hành động mặt.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2743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Arial"/>
              </a:rPr>
              <a:t>6/7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6473952"/>
            <a:ext cx="24231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Arial"/>
              </a:rPr>
              <a:t>Action Units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rial"/>
              </a:rPr>
              <a:t>6. Đóng góp, giới hạn và hướng tiếp theo</a:t>
            </a:r>
          </a:p>
        </p:txBody>
      </p:sp>
      <p:sp>
        <p:nvSpPr>
          <p:cNvPr id="3" name="slide-subtitle"/>
          <p:cNvSpPr txBox="1"/>
          <p:nvPr/>
        </p:nvSpPr>
        <p:spPr>
          <a:xfrm>
            <a:off x="612648" y="841248"/>
            <a:ext cx="9875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Arial"/>
              </a:rPr>
              <a:t>Góc nhìn phản biện để trao đổi với GVHD.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154680" cy="530352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Đóng góp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I1-I6 gắn trực tiếp vào pipeline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Two-stage CLIP adaptation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Đầu ra có thể diễn giải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154680" cy="530352"/>
          </a:xfrm>
          <a:prstGeom prst="roundRect">
            <a:avLst/>
          </a:prstGeom>
          <a:solidFill>
            <a:srgbClr val="F8CECC"/>
          </a:solidFill>
          <a:ln w="15240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Giới hạn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14884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Chưa có AU-region attention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Chưa temporal modeling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Threshold chưa calibration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417320"/>
            <a:ext cx="3154680" cy="530352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Tiếp theo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Chạy --all_folds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Báo cáo mean/std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  <a:latin typeface="Arial"/>
              </a:defRPr>
            </a:pPr>
            <a:r>
              <a:t>Thử region-aware +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Arial"/>
              </a:rPr>
              <a:t>Kết luận trình bày: mô hình là một đề xuất cải tiến có cơ sở từ CLIP-ReID/CoOp cho AU detection, cần được chứng minh tiếp bằng protocol subject-disjoint và các ablation phù hợp.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27432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Arial"/>
              </a:rPr>
              <a:t>7/7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6473952"/>
            <a:ext cx="242316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06060"/>
                </a:solidFill>
                <a:latin typeface="Arial"/>
              </a:rPr>
              <a:t>Action Units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